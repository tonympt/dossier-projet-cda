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148840"/>
            <a:ext cx="65730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514600"/>
            <a:ext cx="104543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14261C"/>
                </a:solidFill>
                <a:latin typeface="Montserrat"/>
              </a:rPr>
              <a:t>GreenRoots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794760"/>
            <a:ext cx="685800" cy="5486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61"/>
                </a:solidFill>
                <a:latin typeface="Montserrat"/>
              </a:rPr>
              <a:t>Plateforme e-commerce de reforestation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006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4261C"/>
                </a:solidFill>
                <a:latin typeface="Montserrat"/>
              </a:rPr>
              <a:t>Dossier de projet</a:t>
            </a:r>
            <a:r>
              <a:rPr sz="1300" b="0" i="0">
                <a:solidFill>
                  <a:srgbClr val="14261C"/>
                </a:solidFill>
                <a:latin typeface="Montserrat"/>
              </a:rPr>
              <a:t> - Titre professionnel Concepteur Développeur d'Applications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1" i="0">
                <a:solidFill>
                  <a:srgbClr val="14261C"/>
                </a:solidFill>
                <a:latin typeface="Montserrat"/>
              </a:rPr>
              <a:t>Tony Memponteil</a:t>
            </a:r>
            <a:r>
              <a:rPr sz="1300" b="0" i="0">
                <a:solidFill>
                  <a:srgbClr val="14261C"/>
                </a:solidFill>
                <a:latin typeface="Montserrat"/>
              </a:rPr>
              <a:t> · Centre de formation O'Clock · Session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0" y="109728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9000" b="1" i="0">
                <a:solidFill>
                  <a:srgbClr val="20342A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ontserrat"/>
              </a:rPr>
              <a:t>Le tunnel de vente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D6A8"/>
                </a:solidFill>
                <a:latin typeface="Montserrat"/>
              </a:rPr>
              <a:t>●  </a:t>
            </a:r>
            <a:r>
              <a:rPr sz="1600" b="0" i="0">
                <a:solidFill>
                  <a:srgbClr val="D8E4DC"/>
                </a:solidFill>
                <a:latin typeface="Montserrat"/>
              </a:rPr>
              <a:t>Démo live du parcours d'achat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8FD6A8"/>
                </a:solidFill>
                <a:latin typeface="Montserrat"/>
              </a:rPr>
              <a:t>●  </a:t>
            </a:r>
            <a:r>
              <a:rPr sz="1600" b="0" i="0">
                <a:solidFill>
                  <a:srgbClr val="D8E4DC"/>
                </a:solidFill>
                <a:latin typeface="Montserrat"/>
              </a:rPr>
              <a:t>Front : formulaire, état, qualité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8FD6A8"/>
                </a:solidFill>
                <a:latin typeface="Montserrat"/>
              </a:rPr>
              <a:t>●  </a:t>
            </a:r>
            <a:r>
              <a:rPr sz="1600" b="0" i="0">
                <a:solidFill>
                  <a:srgbClr val="D8E4DC"/>
                </a:solidFill>
                <a:latin typeface="Montserrat"/>
              </a:rPr>
              <a:t>Back : transaction, webhook Stripe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8FD6A8"/>
                </a:solidFill>
                <a:latin typeface="Montserrat"/>
              </a:rPr>
              <a:t>●  </a:t>
            </a:r>
            <a:r>
              <a:rPr sz="1600" b="0" i="0">
                <a:solidFill>
                  <a:srgbClr val="D8E4DC"/>
                </a:solidFill>
                <a:latin typeface="Montserrat"/>
              </a:rPr>
              <a:t>Données : SQL &amp; Redis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26480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A5B51"/>
                </a:solidFill>
                <a:latin typeface="Montserrat"/>
              </a:rPr>
              <a:t>01 </a:t>
            </a:r>
            <a:r>
              <a:rPr sz="1200" b="0" i="0">
                <a:solidFill>
                  <a:srgbClr val="4A5B51"/>
                </a:solidFill>
                <a:latin typeface="Montserrat"/>
              </a:rPr>
              <a:t>Introduction      </a:t>
            </a:r>
            <a:r>
              <a:rPr sz="1200" b="1" i="0">
                <a:solidFill>
                  <a:srgbClr val="4A5B51"/>
                </a:solidFill>
                <a:latin typeface="Montserrat"/>
              </a:rPr>
              <a:t>02 </a:t>
            </a:r>
            <a:r>
              <a:rPr sz="1200" b="0" i="0">
                <a:solidFill>
                  <a:srgbClr val="4A5B51"/>
                </a:solidFill>
                <a:latin typeface="Montserrat"/>
              </a:rPr>
              <a:t>Conception      </a:t>
            </a:r>
            <a:r>
              <a:rPr sz="1200" b="1" i="0">
                <a:solidFill>
                  <a:srgbClr val="8FD6A8"/>
                </a:solidFill>
                <a:latin typeface="Montserrat"/>
              </a:rPr>
              <a:t>03 </a:t>
            </a:r>
            <a:r>
              <a:rPr sz="1200" b="1" i="0">
                <a:solidFill>
                  <a:srgbClr val="8FD6A8"/>
                </a:solidFill>
                <a:latin typeface="Montserrat"/>
              </a:rPr>
              <a:t>Tunnel de vente      </a:t>
            </a:r>
            <a:r>
              <a:rPr sz="1200" b="1" i="0">
                <a:solidFill>
                  <a:srgbClr val="FFFFFF"/>
                </a:solidFill>
                <a:latin typeface="Montserrat"/>
              </a:rPr>
              <a:t>04 </a:t>
            </a:r>
            <a:r>
              <a:rPr sz="1200" b="0" i="0">
                <a:solidFill>
                  <a:srgbClr val="FFFFFF"/>
                </a:solidFill>
                <a:latin typeface="Montserrat"/>
              </a:rPr>
              <a:t>Passages obligatoires      </a:t>
            </a:r>
            <a:r>
              <a:rPr sz="1200" b="1" i="0">
                <a:solidFill>
                  <a:srgbClr val="FFFFFF"/>
                </a:solidFill>
                <a:latin typeface="Montserrat"/>
              </a:rPr>
              <a:t>05 </a:t>
            </a:r>
            <a:r>
              <a:rPr sz="1200" b="0" i="0">
                <a:solidFill>
                  <a:srgbClr val="FFFFFF"/>
                </a:solidFill>
                <a:latin typeface="Montserrat"/>
              </a:rPr>
              <a:t>Déploiement      </a:t>
            </a:r>
            <a:r>
              <a:rPr sz="1200" b="1" i="0">
                <a:solidFill>
                  <a:srgbClr val="FFFFFF"/>
                </a:solidFill>
                <a:latin typeface="Montserrat"/>
              </a:rPr>
              <a:t>06 </a:t>
            </a:r>
            <a:r>
              <a:rPr sz="1200" b="0" i="0">
                <a:solidFill>
                  <a:srgbClr val="FFFFFF"/>
                </a:solidFill>
                <a:latin typeface="Montserrat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4F"/>
                </a:solidFill>
                <a:latin typeface="Montserrat"/>
              </a:rPr>
              <a:t>C O N C E P T I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1045433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261C"/>
                </a:solidFill>
                <a:latin typeface="Montserrat"/>
              </a:rPr>
              <a:t>Une architecture 3 tiers découplée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6627" y="2743200"/>
            <a:ext cx="324612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l"/>
            <a:r>
              <a:rPr sz="1100" b="1" i="0">
                <a:solidFill>
                  <a:srgbClr val="2E7D4F"/>
                </a:solidFill>
                <a:latin typeface="Montserrat"/>
              </a:rPr>
              <a:t>P R É S E N T A T I O N</a:t>
            </a: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14261C"/>
                </a:solidFill>
                <a:latin typeface="Montserrat"/>
              </a:rPr>
              <a:t>SPA React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0" i="0">
                <a:solidFill>
                  <a:srgbClr val="5C6B61"/>
                </a:solidFill>
                <a:latin typeface="Montserrat"/>
              </a:rPr>
              <a:t>Exécutée dans le navigateur (Vite). Servie par Nginx.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2787" y="2743200"/>
            <a:ext cx="324612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l"/>
            <a:r>
              <a:rPr sz="1100" b="1" i="0">
                <a:solidFill>
                  <a:srgbClr val="2E7D4F"/>
                </a:solidFill>
                <a:latin typeface="Montserrat"/>
              </a:rPr>
              <a:t>L O G I Q U E   M É T I E R</a:t>
            </a: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14261C"/>
                </a:solidFill>
                <a:latin typeface="Montserrat"/>
              </a:rPr>
              <a:t>API REST NestJS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0" i="0">
                <a:solidFill>
                  <a:srgbClr val="5C6B61"/>
                </a:solidFill>
                <a:latin typeface="Montserrat"/>
              </a:rPr>
              <a:t>Architecture modulaire, injection de dépendances.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8947" y="2743200"/>
            <a:ext cx="324612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l"/>
            <a:r>
              <a:rPr sz="1100" b="1" i="0">
                <a:solidFill>
                  <a:srgbClr val="2E7D4F"/>
                </a:solidFill>
                <a:latin typeface="Montserrat"/>
              </a:rPr>
              <a:t>D O N N É E S</a:t>
            </a: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14261C"/>
                </a:solidFill>
                <a:latin typeface="Montserrat"/>
              </a:rPr>
              <a:t>PostgreSQL · Redis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0" i="0">
                <a:solidFill>
                  <a:srgbClr val="5C6B61"/>
                </a:solidFill>
                <a:latin typeface="Montserrat"/>
              </a:rPr>
              <a:t>Relationnel + PostGIS, cache en mémoire.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65247"/>
                </a:solidFill>
                <a:latin typeface="Montserrat"/>
              </a:rPr>
              <a:t>Nginx</a:t>
            </a:r>
            <a:r>
              <a:rPr sz="1500" b="0" i="0">
                <a:solidFill>
                  <a:srgbClr val="5C6B61"/>
                </a:solidFill>
                <a:latin typeface="Montserrat"/>
              </a:rPr>
              <a:t> en reverse proxy : chaque couche ne parle qu'à la suivante.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4F"/>
                </a:solidFill>
                <a:latin typeface="Montserrat"/>
              </a:rPr>
              <a:t>Q U A L I T 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1045433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261C"/>
                </a:solidFill>
                <a:latin typeface="Montserrat"/>
              </a:rPr>
              <a:t>Des tests sur la logique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346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2E7D4F"/>
                </a:solidFill>
                <a:latin typeface="Montserrat"/>
              </a:rPr>
              <a:t>211</a:t>
            </a:r>
          </a:p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5C6B61"/>
                </a:solidFill>
                <a:latin typeface="Montserrat"/>
              </a:rPr>
              <a:t>tests unitaires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1960" y="28346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2E7D4F"/>
                </a:solidFill>
                <a:latin typeface="Montserrat"/>
              </a:rPr>
              <a:t>151</a:t>
            </a:r>
          </a:p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5C6B61"/>
                </a:solidFill>
                <a:latin typeface="Montserrat"/>
              </a:rPr>
              <a:t>back - Jest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8346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2E7D4F"/>
                </a:solidFill>
                <a:latin typeface="Montserrat"/>
              </a:rPr>
              <a:t>60</a:t>
            </a:r>
          </a:p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5C6B61"/>
                </a:solidFill>
                <a:latin typeface="Montserrat"/>
              </a:rPr>
              <a:t>front - Vitest + 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C6B61"/>
                </a:solidFill>
                <a:latin typeface="Montserrat"/>
              </a:rPr>
              <a:t>Priorité au </a:t>
            </a:r>
            <a:r>
              <a:rPr sz="1600" b="1" i="0">
                <a:solidFill>
                  <a:srgbClr val="265247"/>
                </a:solidFill>
                <a:latin typeface="Montserrat"/>
              </a:rPr>
              <a:t>checkout / paiement / panier</a:t>
            </a:r>
            <a:r>
              <a:rPr sz="1600" b="0" i="0">
                <a:solidFill>
                  <a:srgbClr val="5C6B61"/>
                </a:solidFill>
                <a:latin typeface="Montserrat"/>
              </a:rPr>
              <a:t>. Intégration et E2E : axes d'amélioration assumés.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4F"/>
                </a:solidFill>
                <a:latin typeface="Montserrat"/>
              </a:rPr>
              <a:t>R É A L I S A T I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1045433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261C"/>
                </a:solidFill>
                <a:latin typeface="Montserrat"/>
              </a:rPr>
              <a:t>Formulaire checkout - validation typée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423160"/>
            <a:ext cx="4754880" cy="384048"/>
          </a:xfrm>
          <a:prstGeom prst="roundRect">
            <a:avLst>
              <a:gd name="adj" fmla="val 25000"/>
            </a:avLst>
          </a:prstGeom>
          <a:solidFill>
            <a:srgbClr val="F1F8EE"/>
          </a:solidFill>
          <a:ln w="12700">
            <a:solidFill>
              <a:srgbClr val="D7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137160"/>
          <a:lstStyle/>
          <a:p>
            <a:pPr algn="l"/>
            <a:r>
              <a:rPr sz="1100" b="1" i="0">
                <a:solidFill>
                  <a:srgbClr val="5C6B61"/>
                </a:solidFill>
                <a:latin typeface="Consolas"/>
              </a:rPr>
              <a:t>features/checkout/schemas/checkoutSchema.ts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07208"/>
            <a:ext cx="10454335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 rIns="182880" bIns="182880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443A"/>
                </a:solidFill>
                <a:latin typeface="Consolas"/>
              </a:rPr>
              <a:t>export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 </a:t>
            </a:r>
            <a:r>
              <a:rPr sz="1300" b="0" i="0">
                <a:solidFill>
                  <a:srgbClr val="C7443A"/>
                </a:solidFill>
                <a:latin typeface="Consolas"/>
              </a:rPr>
              <a:t>const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 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checkoutFormSchema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 = 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z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.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object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({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261C"/>
                </a:solidFill>
                <a:latin typeface="Consolas"/>
              </a:rPr>
              <a:t>  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contactEmail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: 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z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.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string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().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min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(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1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, </a:t>
            </a:r>
            <a:r>
              <a:rPr sz="1300" b="0" i="0">
                <a:solidFill>
                  <a:srgbClr val="0B7261"/>
                </a:solidFill>
                <a:latin typeface="Consolas"/>
              </a:rPr>
              <a:t>"L'adresse e-mail est requise"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261C"/>
                </a:solidFill>
                <a:latin typeface="Consolas"/>
              </a:rPr>
              <a:t>                          .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email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(</a:t>
            </a:r>
            <a:r>
              <a:rPr sz="1300" b="0" i="0">
                <a:solidFill>
                  <a:srgbClr val="0B7261"/>
                </a:solidFill>
                <a:latin typeface="Consolas"/>
              </a:rPr>
              <a:t>"Adresse e-mail invalide"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),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261C"/>
                </a:solidFill>
                <a:latin typeface="Consolas"/>
              </a:rPr>
              <a:t>  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firstName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:   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z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.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string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().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min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(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1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, </a:t>
            </a:r>
            <a:r>
              <a:rPr sz="1300" b="0" i="0">
                <a:solidFill>
                  <a:srgbClr val="0B7261"/>
                </a:solidFill>
                <a:latin typeface="Consolas"/>
              </a:rPr>
              <a:t>"Le prénom est requis"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).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max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(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64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),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261C"/>
                </a:solidFill>
                <a:latin typeface="Consolas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261C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B61"/>
                </a:solidFill>
                <a:latin typeface="Consolas"/>
              </a:rPr>
              <a:t>// type dérivé du schéma : front et validation toujours synchronisés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443A"/>
                </a:solidFill>
                <a:latin typeface="Consolas"/>
              </a:rPr>
              <a:t>export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 </a:t>
            </a:r>
            <a:r>
              <a:rPr sz="1300" b="0" i="0">
                <a:solidFill>
                  <a:srgbClr val="C7443A"/>
                </a:solidFill>
                <a:latin typeface="Consolas"/>
              </a:rPr>
              <a:t>type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 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CheckoutFormValues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 = 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z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.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infer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&lt;</a:t>
            </a:r>
            <a:r>
              <a:rPr sz="1300" b="0" i="0">
                <a:solidFill>
                  <a:srgbClr val="C7443A"/>
                </a:solidFill>
                <a:latin typeface="Consolas"/>
              </a:rPr>
              <a:t>typeof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 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checkoutFormSchema</a:t>
            </a:r>
            <a:r>
              <a:rPr sz="1300" b="0" i="0">
                <a:solidFill>
                  <a:srgbClr val="14261C"/>
                </a:solidFill>
                <a:latin typeface="Consolas"/>
              </a:rPr>
              <a:t>&gt;;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67" y="2286000"/>
            <a:ext cx="954157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B9C6BF"/>
                </a:solidFill>
                <a:latin typeface="Montserrat"/>
              </a:rPr>
              <a:t>Je suis à votre disposition pour vos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